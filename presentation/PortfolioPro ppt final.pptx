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13232"/>
            <a:ext cx="2057400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2057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FULL-STACK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5F8FC"/>
                </a:solidFill>
                <a:latin typeface="Aptos"/>
              </a:defRPr>
            </a:pPr>
            <a:r>
              <a:t>PortfolioPro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669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  <a:latin typeface="Aptos"/>
              </a:defRPr>
            </a:pPr>
            <a:r>
              <a:t>Stock Trading &amp;</a:t>
            </a:r>
            <a:br/>
            <a:r>
              <a:t>Portfolio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36976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5B1C3"/>
                </a:solidFill>
                <a:latin typeface="Aptos"/>
              </a:defRPr>
            </a:pPr>
            <a:r>
              <a:t>A practical full-stack project connecting Angular, Spring Boot, REST APIs and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97680"/>
            <a:ext cx="987552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315968"/>
            <a:ext cx="9875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56232" y="4297680"/>
            <a:ext cx="987552" cy="310896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6232" y="4315968"/>
            <a:ext cx="9875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4297680"/>
            <a:ext cx="987552" cy="310896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4315968"/>
            <a:ext cx="9875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4297680"/>
            <a:ext cx="987552" cy="310896"/>
          </a:xfrm>
          <a:prstGeom prst="round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4315968"/>
            <a:ext cx="9875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834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B.Tech CSE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241719"/>
            <a:ext cx="5577840" cy="2722032"/>
          </a:xfrm>
          <a:prstGeom prst="roundRect">
            <a:avLst/>
          </a:prstGeom>
          <a:solidFill>
            <a:srgbClr val="040A14"/>
          </a:solidFill>
          <a:ln>
            <a:solidFill>
              <a:srgbClr val="04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13703"/>
            <a:ext cx="5577840" cy="2722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01 | 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From scattered investment data to one connected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PortfolioPro brings portfolio, stock, holding and transaction information into a single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3977639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1637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8EEF7"/>
                </a:solidFill>
                <a:latin typeface="Aptos"/>
              </a:defRPr>
            </a:pPr>
            <a:r>
              <a:t>• Investment information is easy to fragment across separate records or screens.</a:t>
            </a:r>
          </a:p>
          <a:p>
            <a:pPr>
              <a:spcAft>
                <a:spcPts val="800"/>
              </a:spcAft>
              <a:defRPr sz="1600">
                <a:solidFill>
                  <a:srgbClr val="E8EEF7"/>
                </a:solidFill>
                <a:latin typeface="Aptos"/>
              </a:defRPr>
            </a:pPr>
            <a:r>
              <a:t>• Users need a central place to track portfolios and stock positions.</a:t>
            </a:r>
          </a:p>
          <a:p>
            <a:pPr>
              <a:spcAft>
                <a:spcPts val="800"/>
              </a:spcAft>
              <a:defRPr sz="1600">
                <a:solidFill>
                  <a:srgbClr val="E8EEF7"/>
                </a:solidFill>
                <a:latin typeface="Aptos"/>
              </a:defRPr>
            </a:pPr>
            <a:r>
              <a:t>• The frontend must stay synchronized with backend data and the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1234440" cy="310896"/>
          </a:xfrm>
          <a:prstGeom prst="roundRect">
            <a:avLst/>
          </a:prstGeom>
          <a:solidFill>
            <a:srgbClr val="F16372"/>
          </a:solidFill>
          <a:ln>
            <a:solidFill>
              <a:srgbClr val="F1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7"/>
            <a:ext cx="12344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Problem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3DCD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737360"/>
            <a:ext cx="5074920" cy="3977639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8424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2CD82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395728"/>
            <a:ext cx="2103120" cy="11704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395728"/>
            <a:ext cx="54864" cy="117043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76288" y="2596896"/>
            <a:ext cx="411480" cy="411480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61518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96896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Centralized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3017520"/>
            <a:ext cx="17007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One dashboard for connected investment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95728"/>
            <a:ext cx="2103120" cy="11704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395728"/>
            <a:ext cx="54864" cy="1170432"/>
          </a:xfrm>
          <a:prstGeom prst="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16568" y="2596896"/>
            <a:ext cx="411480" cy="411480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615184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596896"/>
            <a:ext cx="11887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API-driven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3017520"/>
            <a:ext cx="17007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Angular communicates with Spring Boot REST APIs.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730752"/>
            <a:ext cx="2103120" cy="11704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3730752"/>
            <a:ext cx="54864" cy="1170432"/>
          </a:xfrm>
          <a:prstGeom prst="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76288" y="3931920"/>
            <a:ext cx="411480" cy="411480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395020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93192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Persistent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352544"/>
            <a:ext cx="17007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MySQL stores data through JPA/Hibernate.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730752"/>
            <a:ext cx="2103120" cy="11704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5400" y="3730752"/>
            <a:ext cx="54864" cy="1170432"/>
          </a:xfrm>
          <a:prstGeom prst="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16568" y="3931920"/>
            <a:ext cx="411480" cy="411480"/>
          </a:xfrm>
          <a:prstGeom prst="round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8" y="395020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931920"/>
            <a:ext cx="11887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Modular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4352544"/>
            <a:ext cx="17007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Controller → Service → Repository architecture.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084064"/>
            <a:ext cx="914400" cy="310896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02351"/>
            <a:ext cx="914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02 |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What PortfolioPro actually lets a user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The project is organized around the five core data domains used by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1907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19072"/>
            <a:ext cx="54864" cy="1572768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411480" cy="411480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2024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Portfolio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086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Create and view portfolios linked to a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71907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719072"/>
            <a:ext cx="54864" cy="1572768"/>
          </a:xfrm>
          <a:prstGeom prst="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920240"/>
            <a:ext cx="411480" cy="411480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3852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2024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Stock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4086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Store stock symbol, company name and price.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1" y="171907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1311" y="1719072"/>
            <a:ext cx="54864" cy="1572768"/>
          </a:xfrm>
          <a:prstGeom prst="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1920240"/>
            <a:ext cx="411480" cy="411480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3852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1920240"/>
            <a:ext cx="25145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Holdings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4086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Track quantities of stocks held in a portfolio.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63931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639312"/>
            <a:ext cx="54864" cy="1572768"/>
          </a:xfrm>
          <a:prstGeom prst="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840480"/>
            <a:ext cx="411480" cy="411480"/>
          </a:xfrm>
          <a:prstGeom prst="round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5876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84048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6110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Store buy/sell activity and transaction values.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363931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2272" y="3639312"/>
            <a:ext cx="54864" cy="1572768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3840480"/>
            <a:ext cx="411480" cy="411480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85876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84048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6110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See counts and portfolio information at a glance.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1311" y="3639312"/>
            <a:ext cx="3429000" cy="157276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11311" y="3639312"/>
            <a:ext cx="54864" cy="1572768"/>
          </a:xfrm>
          <a:prstGeom prst="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0" y="3840480"/>
            <a:ext cx="411480" cy="411480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858768"/>
            <a:ext cx="411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3840480"/>
            <a:ext cx="25145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API connectivity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261104"/>
            <a:ext cx="302666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Move data between Angular, Spring Boot and MySQL.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03 |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A clean request path from UI to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Each layer has one job, making the system easier to understand, test and extend.</a:t>
            </a:r>
          </a:p>
        </p:txBody>
      </p:sp>
      <p:sp>
        <p:nvSpPr>
          <p:cNvPr id="7" name="Chevron 6"/>
          <p:cNvSpPr/>
          <p:nvPr/>
        </p:nvSpPr>
        <p:spPr>
          <a:xfrm>
            <a:off x="1947672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UI + HTTP</a:t>
            </a:r>
          </a:p>
        </p:txBody>
      </p:sp>
      <p:sp>
        <p:nvSpPr>
          <p:cNvPr id="11" name="Chevron 10"/>
          <p:cNvSpPr/>
          <p:nvPr/>
        </p:nvSpPr>
        <p:spPr>
          <a:xfrm>
            <a:off x="3566160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12848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GET / POST / PUT / DELETE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84648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31336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8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Request handling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6803136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49824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6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23" name="Chevron 22"/>
          <p:cNvSpPr/>
          <p:nvPr/>
        </p:nvSpPr>
        <p:spPr>
          <a:xfrm>
            <a:off x="8421624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68312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1464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7" name="Chevron 26"/>
          <p:cNvSpPr/>
          <p:nvPr/>
        </p:nvSpPr>
        <p:spPr>
          <a:xfrm>
            <a:off x="10040112" y="2743200"/>
            <a:ext cx="256032" cy="384048"/>
          </a:xfrm>
          <a:prstGeom prst="chevron">
            <a:avLst/>
          </a:prstGeom>
          <a:solidFill>
            <a:srgbClr val="A5B1C3"/>
          </a:solidFill>
          <a:ln>
            <a:solidFill>
              <a:srgbClr val="A5B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0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ORM mapping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05288" y="2331720"/>
            <a:ext cx="1389888" cy="1234440"/>
          </a:xfrm>
          <a:prstGeom prst="roundRect">
            <a:avLst/>
          </a:prstGeom>
          <a:solidFill>
            <a:srgbClr val="1A2B46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254203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8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907792"/>
            <a:ext cx="12435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5B1C3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06240"/>
            <a:ext cx="10835640" cy="109728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443984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DEB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407408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Aptos"/>
              </a:defRPr>
            </a:pPr>
            <a:r>
              <a:t>The frontend does not talk directly to MySQL. Every request flows through the backend API and its service/repository layers.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04 |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The five entities behind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The relational model connects users to portfolios, portfolios to holdings/transactions, and stocks to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743200" cy="1417320"/>
          </a:xfrm>
          <a:prstGeom prst="roundRect">
            <a:avLst/>
          </a:prstGeom>
          <a:solidFill>
            <a:srgbClr val="142239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59152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id</a:t>
            </a:r>
            <a:br/>
            <a:r>
              <a:t>name</a:t>
            </a:r>
            <a:br/>
            <a:r>
              <a:t>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828800"/>
            <a:ext cx="2743200" cy="1417320"/>
          </a:xfrm>
          <a:prstGeom prst="roundRect">
            <a:avLst/>
          </a:prstGeom>
          <a:solidFill>
            <a:srgbClr val="142239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359152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id</a:t>
            </a:r>
            <a:br/>
            <a:r>
              <a:t>portfolioName</a:t>
            </a:r>
            <a:br/>
            <a:r>
              <a:t>user_id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2743200" cy="1417320"/>
          </a:xfrm>
          <a:prstGeom prst="roundRect">
            <a:avLst/>
          </a:prstGeom>
          <a:solidFill>
            <a:srgbClr val="142239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359152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id</a:t>
            </a:r>
            <a:br/>
            <a:r>
              <a:t>symbol</a:t>
            </a:r>
            <a:br/>
            <a:r>
              <a:t>companyName</a:t>
            </a:r>
            <a:br/>
            <a:r>
              <a:t>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160520"/>
            <a:ext cx="2743200" cy="1417320"/>
          </a:xfrm>
          <a:prstGeom prst="roundRect">
            <a:avLst/>
          </a:prstGeom>
          <a:solidFill>
            <a:srgbClr val="142239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4325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Holding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690872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id</a:t>
            </a:r>
            <a:br/>
            <a:r>
              <a:t>quantity</a:t>
            </a:r>
            <a:br/>
            <a:r>
              <a:t>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160520"/>
            <a:ext cx="2743200" cy="1417320"/>
          </a:xfrm>
          <a:prstGeom prst="roundRect">
            <a:avLst/>
          </a:prstGeom>
          <a:solidFill>
            <a:srgbClr val="142239"/>
          </a:solidFill>
          <a:ln>
            <a:solidFill>
              <a:srgbClr val="F1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4325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690872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id</a:t>
            </a:r>
            <a:br/>
            <a:r>
              <a:t>quantity</a:t>
            </a:r>
            <a:br/>
            <a:r>
              <a:t>price</a:t>
            </a:r>
            <a:br/>
            <a:r>
              <a:t>...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6160" y="2542032"/>
            <a:ext cx="457200" cy="0"/>
          </a:xfrm>
          <a:prstGeom prst="line">
            <a:avLst/>
          </a:prstGeom>
          <a:ln w="19050">
            <a:solidFill>
              <a:srgbClr val="A5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2542032"/>
            <a:ext cx="502920" cy="0"/>
          </a:xfrm>
          <a:prstGeom prst="line">
            <a:avLst/>
          </a:prstGeom>
          <a:ln w="19050">
            <a:solidFill>
              <a:srgbClr val="A5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114800" y="3246120"/>
            <a:ext cx="1143000" cy="914400"/>
          </a:xfrm>
          <a:prstGeom prst="line">
            <a:avLst/>
          </a:prstGeom>
          <a:ln w="19050">
            <a:solidFill>
              <a:srgbClr val="A5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955279" y="3246120"/>
            <a:ext cx="594361" cy="914400"/>
          </a:xfrm>
          <a:prstGeom prst="line">
            <a:avLst/>
          </a:prstGeom>
          <a:ln w="19050">
            <a:solidFill>
              <a:srgbClr val="A5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5806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1C3"/>
                </a:solidFill>
                <a:latin typeface="Aptos"/>
              </a:defRPr>
            </a:pPr>
            <a:r>
              <a:t>*via holdings /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3DCDEB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769864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E8EEF7"/>
                </a:solidFill>
                <a:latin typeface="Aptos"/>
              </a:defRPr>
            </a:pPr>
            <a:r>
              <a:t>Relationships are represented with JPA annotations and persisted as relational tables in MySQL.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05 | BACKEND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CRUD + REST APIs, not just a static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The backend exposes modular endpoints while keeping database access inside the repository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057400" cy="530352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1645920" cy="530352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89280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1645920" cy="530352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89280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783080"/>
            <a:ext cx="1645920" cy="530352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89280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1783080"/>
            <a:ext cx="1645920" cy="530352"/>
          </a:xfrm>
          <a:prstGeom prst="roundRect">
            <a:avLst/>
          </a:prstGeom>
          <a:solidFill>
            <a:srgbClr val="1A2B46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89280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04872"/>
            <a:ext cx="20574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3288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CDEB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2404872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39" y="253288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404872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53288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2404872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253288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A5B1C3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80" y="2404872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53288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A5B1C3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063239"/>
            <a:ext cx="205740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19125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CDEB"/>
                </a:solidFill>
                <a:latin typeface="Aptos"/>
              </a:defRPr>
            </a:pPr>
            <a:r>
              <a:t>Portfolios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3063239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39" y="3191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063239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3191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59" y="3063239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3191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80" y="3063239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191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721608"/>
            <a:ext cx="20574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84962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CDEB"/>
                </a:solidFill>
                <a:latin typeface="Aptos"/>
              </a:defRPr>
            </a:pPr>
            <a:r>
              <a:t>Stocks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3721608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39" y="384962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3721608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384962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59" y="3721608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79" y="384962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80" y="3721608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384962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379976"/>
            <a:ext cx="205740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50799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CDEB"/>
                </a:solidFill>
                <a:latin typeface="Aptos"/>
              </a:defRPr>
            </a:pPr>
            <a:r>
              <a:t>Holdings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88920" y="4379976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39" y="45079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4379976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59" y="45079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0759" y="4379976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79" y="45079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26680" y="4379976"/>
            <a:ext cx="1645920" cy="530352"/>
          </a:xfrm>
          <a:prstGeom prst="round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45079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038344"/>
            <a:ext cx="20574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166359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CDEB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88920" y="5038344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39" y="5166359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34840" y="5038344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59" y="5166359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0759" y="5038344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79" y="5166359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26680" y="5038344"/>
            <a:ext cx="164592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5166359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32CD82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75320" y="1783080"/>
            <a:ext cx="3063240" cy="3767328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22208" y="19933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DEB"/>
                </a:solidFill>
                <a:latin typeface="Aptos"/>
              </a:defRPr>
            </a:pPr>
            <a:r>
              <a:t>Example API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8" y="2487168"/>
            <a:ext cx="2423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GET /stocks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2971800"/>
            <a:ext cx="24871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E8EEF7"/>
                </a:solidFill>
                <a:latin typeface="Aptos"/>
              </a:defRPr>
            </a:pPr>
            <a:r>
              <a:t>Returns stock data from Spring Boot → JPA/Hibernate → MySQL.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22208" y="4133087"/>
            <a:ext cx="777240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22208" y="4151375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REST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0032" y="4133087"/>
            <a:ext cx="685800" cy="310896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00032" y="4151375"/>
            <a:ext cx="6858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JPA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213848" y="4133087"/>
            <a:ext cx="758952" cy="310896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13848" y="4151375"/>
            <a:ext cx="7589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4873752"/>
            <a:ext cx="248716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5B1C3"/>
                </a:solidFill>
                <a:latin typeface="Aptos"/>
              </a:defRPr>
            </a:pPr>
            <a:r>
              <a:t>Tested with Postman during development.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06 | WORKING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Frontend + backend integration is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This is the working Angular dashboard connected to the Spring Boot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1874519"/>
            <a:ext cx="8046720" cy="3926866"/>
          </a:xfrm>
          <a:prstGeom prst="round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39268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61120" y="1783080"/>
            <a:ext cx="2468880" cy="4480560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201168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DCDEB"/>
                </a:solidFill>
                <a:latin typeface="Aptos"/>
              </a:defRPr>
            </a:pPr>
            <a:r>
              <a:t>LIVE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514600"/>
            <a:ext cx="1371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Stocks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478024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4285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00984"/>
            <a:ext cx="1371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3264408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3DCD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4087368"/>
            <a:ext cx="1371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Holdings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4050791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32C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873752"/>
            <a:ext cx="1371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5B1C3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483717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FAA64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57784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5B1C3"/>
                </a:solidFill>
                <a:latin typeface="Aptos"/>
              </a:defRPr>
            </a:pPr>
            <a:r>
              <a:t>The screenshot reflects the current working demo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07 |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How to explain the project in 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A concise story keeps the presentation focused on architecture + working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20240"/>
            <a:ext cx="475488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Show the Angular UI and KPI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7373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5152" y="1920240"/>
            <a:ext cx="475488" cy="310896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9385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Open Stocks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048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Show TCS coming from the API/database.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7373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1" y="1920240"/>
            <a:ext cx="475488" cy="310896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1" y="19385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7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Open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24048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Show the stored portfolio and creation 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7947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3977640"/>
            <a:ext cx="475488" cy="310896"/>
          </a:xfrm>
          <a:prstGeom prst="round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593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Open Holdings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4622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Explain the quantity-based position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37947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5152" y="3977640"/>
            <a:ext cx="475488" cy="310896"/>
          </a:xfrm>
          <a:prstGeom prst="roundRect">
            <a:avLst/>
          </a:prstGeom>
          <a:solidFill>
            <a:srgbClr val="F16372"/>
          </a:solidFill>
          <a:ln>
            <a:solidFill>
              <a:srgbClr val="F1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9959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9593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Open 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4622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Explain how activity is stored and retrieved.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1" y="3794760"/>
            <a:ext cx="3401568" cy="1627632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94191" y="3977640"/>
            <a:ext cx="475488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1" y="3995928"/>
            <a:ext cx="4754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7" y="39593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5F8FC"/>
                </a:solidFill>
                <a:latin typeface="Aptos"/>
              </a:defRPr>
            </a:pPr>
            <a:r>
              <a:t>Explain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1" y="4462272"/>
            <a:ext cx="2944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5B1C3"/>
                </a:solidFill>
                <a:latin typeface="Aptos"/>
              </a:defRPr>
            </a:pPr>
            <a:r>
              <a:t>Angular → Spring Boot → JPA → MySQL.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50215" cy="6784848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CDEB"/>
                </a:solidFill>
                <a:latin typeface="Aptos"/>
              </a:defRPr>
            </a:pPr>
            <a:r>
              <a:t>08 |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From academic project to a stronger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5B1C3"/>
                </a:solidFill>
                <a:latin typeface="Aptos"/>
              </a:defRPr>
            </a:pPr>
            <a:r>
              <a:t>Future improvements can build on the same architecture without changing the core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713232" cy="310896"/>
          </a:xfrm>
          <a:prstGeom prst="roundRect">
            <a:avLst/>
          </a:prstGeom>
          <a:solidFill>
            <a:srgbClr val="32CD82"/>
          </a:solidFill>
          <a:ln>
            <a:solidFill>
              <a:srgbClr val="32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755648"/>
            <a:ext cx="9418320" cy="676656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8915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E8EEF7"/>
                </a:solidFill>
                <a:latin typeface="Aptos"/>
              </a:defRPr>
            </a:pPr>
            <a:r>
              <a:t>Full-stack CRUD + live API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70632"/>
            <a:ext cx="713232" cy="310896"/>
          </a:xfrm>
          <a:prstGeom prst="roundRect">
            <a:avLst/>
          </a:prstGeom>
          <a:solidFill>
            <a:srgbClr val="4285FF"/>
          </a:solidFill>
          <a:ln>
            <a:solidFill>
              <a:srgbClr val="4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743200"/>
            <a:ext cx="9418320" cy="676656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2889504"/>
            <a:ext cx="8915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E8EEF7"/>
                </a:solidFill>
                <a:latin typeface="Aptos"/>
              </a:defRPr>
            </a:pPr>
            <a:r>
              <a:t>Authentication &amp; authorization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58184"/>
            <a:ext cx="713232" cy="310896"/>
          </a:xfrm>
          <a:prstGeom prst="roundRect">
            <a:avLst/>
          </a:prstGeom>
          <a:solidFill>
            <a:srgbClr val="3DCDEB"/>
          </a:solidFill>
          <a:ln>
            <a:solidFill>
              <a:srgbClr val="3D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730752"/>
            <a:ext cx="9418320" cy="676656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3877056"/>
            <a:ext cx="8915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E8EEF7"/>
                </a:solidFill>
                <a:latin typeface="Aptos"/>
              </a:defRPr>
            </a:pPr>
            <a:r>
              <a:t>Real-time stock price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45736"/>
            <a:ext cx="713232" cy="310896"/>
          </a:xfrm>
          <a:prstGeom prst="roundRect">
            <a:avLst/>
          </a:prstGeom>
          <a:solidFill>
            <a:srgbClr val="FAA648"/>
          </a:solidFill>
          <a:ln>
            <a:solidFill>
              <a:srgbClr val="FA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64024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718304"/>
            <a:ext cx="9418320" cy="676656"/>
          </a:xfrm>
          <a:prstGeom prst="roundRect">
            <a:avLst/>
          </a:prstGeom>
          <a:solidFill>
            <a:srgbClr val="142239"/>
          </a:solidFill>
          <a:ln>
            <a:solidFill>
              <a:srgbClr val="14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864608"/>
            <a:ext cx="8915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E8EEF7"/>
                </a:solidFill>
                <a:latin typeface="Aptos"/>
              </a:defRPr>
            </a:pPr>
            <a:r>
              <a:t>Portfolio analytics + performance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32120"/>
            <a:ext cx="10332720" cy="658368"/>
          </a:xfrm>
          <a:prstGeom prst="roundRect">
            <a:avLst/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9671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5F8FC"/>
                </a:solidFill>
                <a:latin typeface="Aptos"/>
              </a:defRPr>
            </a:pPr>
            <a:r>
              <a:t>PortfolioPro shows how a real frontend, REST backend and relational database fit together as one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1C3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